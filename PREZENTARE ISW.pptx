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6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9" r:id="rId6"/>
    <p:sldId id="259" r:id="rId7"/>
    <p:sldId id="272" r:id="rId8"/>
    <p:sldId id="261" r:id="rId9"/>
    <p:sldId id="271" r:id="rId10"/>
    <p:sldId id="263" r:id="rId11"/>
    <p:sldId id="264" r:id="rId12"/>
    <p:sldId id="265" r:id="rId13"/>
    <p:sldId id="266" r:id="rId14"/>
    <p:sldId id="270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A0"/>
    <a:srgbClr val="288ABA"/>
    <a:srgbClr val="771D82"/>
    <a:srgbClr val="131D82"/>
    <a:srgbClr val="8CBE42"/>
    <a:srgbClr val="AA0533"/>
    <a:srgbClr val="4C23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195" autoAdjust="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74FC3E-5D81-4F0C-B999-73CD49C866AB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93910-D889-420C-8735-F4430FE220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02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B93910-D889-420C-8735-F4430FE220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433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2C6E0-26C1-4973-8427-BB080AB9AD3D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31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770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77736-D1C4-4C1E-99A2-5F3BC7073BDF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62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47034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765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9BDF8-E892-4761-86C5-BB6FFB3E001B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49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70FB7-1702-4F8A-A516-71C330298200}" type="datetime1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24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216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5914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28045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2068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658633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8834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52705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584056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18477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455028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58736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AACD2EF-495E-4510-B849-ED8FD71A7E16}" type="datetime1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35A3DBB-FBA3-4A4C-B7D7-E60F12564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310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  <p:sldLayoutId id="2147483999" r:id="rId3"/>
    <p:sldLayoutId id="2147484000" r:id="rId4"/>
    <p:sldLayoutId id="2147484001" r:id="rId5"/>
    <p:sldLayoutId id="2147484002" r:id="rId6"/>
    <p:sldLayoutId id="2147484003" r:id="rId7"/>
    <p:sldLayoutId id="2147484004" r:id="rId8"/>
    <p:sldLayoutId id="2147484005" r:id="rId9"/>
    <p:sldLayoutId id="2147484006" r:id="rId10"/>
    <p:sldLayoutId id="2147484007" r:id="rId11"/>
    <p:sldLayoutId id="2147484008" r:id="rId12"/>
    <p:sldLayoutId id="2147484009" r:id="rId13"/>
    <p:sldLayoutId id="2147484010" r:id="rId14"/>
    <p:sldLayoutId id="2147484011" r:id="rId15"/>
    <p:sldLayoutId id="2147484012" r:id="rId16"/>
    <p:sldLayoutId id="2147484013" r:id="rId17"/>
    <p:sldLayoutId id="2147484014" r:id="rId18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267" y="4988987"/>
            <a:ext cx="3312368" cy="127089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7919834" y="5516435"/>
            <a:ext cx="216000" cy="216000"/>
            <a:chOff x="2772000" y="1932221"/>
            <a:chExt cx="2340000" cy="2340000"/>
          </a:xfrm>
        </p:grpSpPr>
        <p:sp>
          <p:nvSpPr>
            <p:cNvPr id="9" name="Rectangle 8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624228" y="5857924"/>
            <a:ext cx="216000" cy="216000"/>
            <a:chOff x="2772000" y="1932221"/>
            <a:chExt cx="2340000" cy="2340000"/>
          </a:xfrm>
        </p:grpSpPr>
        <p:sp>
          <p:nvSpPr>
            <p:cNvPr id="15" name="Rectangle 14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 20"/>
          <p:cNvSpPr/>
          <p:nvPr/>
        </p:nvSpPr>
        <p:spPr>
          <a:xfrm>
            <a:off x="8064388" y="4417764"/>
            <a:ext cx="216000" cy="216000"/>
          </a:xfrm>
          <a:prstGeom prst="rect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135834" y="4489210"/>
            <a:ext cx="73108" cy="73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2">
                    <a:lumMod val="75000"/>
                  </a:schemeClr>
                </a:solidFill>
              </a:ln>
              <a:solidFill>
                <a:schemeClr val="tx1"/>
              </a:solidFill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5184068" y="5857924"/>
            <a:ext cx="216000" cy="216000"/>
            <a:chOff x="2772000" y="1932221"/>
            <a:chExt cx="2340000" cy="2340000"/>
          </a:xfrm>
        </p:grpSpPr>
        <p:sp>
          <p:nvSpPr>
            <p:cNvPr id="18" name="Rectangle 17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624228" y="4417764"/>
            <a:ext cx="216000" cy="216000"/>
            <a:chOff x="2772000" y="1932221"/>
            <a:chExt cx="2340000" cy="2340000"/>
          </a:xfrm>
        </p:grpSpPr>
        <p:sp>
          <p:nvSpPr>
            <p:cNvPr id="24" name="Rectangle 23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5" name="Rectangle 24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8064388" y="2977604"/>
            <a:ext cx="216000" cy="216000"/>
            <a:chOff x="2772000" y="1932221"/>
            <a:chExt cx="2340000" cy="2340000"/>
          </a:xfrm>
        </p:grpSpPr>
        <p:sp>
          <p:nvSpPr>
            <p:cNvPr id="27" name="Rectangle 26"/>
            <p:cNvSpPr/>
            <p:nvPr/>
          </p:nvSpPr>
          <p:spPr>
            <a:xfrm>
              <a:off x="2772000" y="1932221"/>
              <a:ext cx="2340000" cy="23400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  <p:sp>
          <p:nvSpPr>
            <p:cNvPr id="28" name="Rectangle 27"/>
            <p:cNvSpPr/>
            <p:nvPr/>
          </p:nvSpPr>
          <p:spPr>
            <a:xfrm>
              <a:off x="3546000" y="2706221"/>
              <a:ext cx="792000" cy="7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n>
                  <a:solidFill>
                    <a:schemeClr val="bg2">
                      <a:lumMod val="75000"/>
                    </a:schemeClr>
                  </a:solidFill>
                </a:ln>
                <a:solidFill>
                  <a:schemeClr val="tx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687767" y="346464"/>
            <a:ext cx="7483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>
                <a:latin typeface="UT Sans Bold" pitchFamily="50" charset="0"/>
              </a:rPr>
              <a:t>Aplicatie</a:t>
            </a:r>
            <a:r>
              <a:rPr lang="en-US" sz="3600" dirty="0">
                <a:latin typeface="UT Sans Bold" pitchFamily="50" charset="0"/>
              </a:rPr>
              <a:t> Web – </a:t>
            </a:r>
            <a:r>
              <a:rPr lang="en-US" sz="3600" dirty="0" err="1">
                <a:latin typeface="UT Sans Bold" pitchFamily="50" charset="0"/>
              </a:rPr>
              <a:t>PaintStudio</a:t>
            </a:r>
            <a:endParaRPr lang="en-US" sz="3600" dirty="0">
              <a:latin typeface="UT Sans Bold" pitchFamily="50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3267" y="1440200"/>
            <a:ext cx="615666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dirty="0">
                <a:latin typeface="UT Sans Medium" panose="00000500000000000000" pitchFamily="2" charset="0"/>
              </a:rPr>
              <a:t>Student</a:t>
            </a:r>
            <a:r>
              <a:rPr lang="en-GB" sz="2400" dirty="0">
                <a:latin typeface="UT Sans Medium" panose="00000500000000000000" pitchFamily="2" charset="0"/>
              </a:rPr>
              <a:t>i: 	Nechifor Cristina Claudia </a:t>
            </a:r>
          </a:p>
          <a:p>
            <a:r>
              <a:rPr lang="en-GB" sz="2400" dirty="0">
                <a:latin typeface="UT Sans Medium" panose="00000500000000000000" pitchFamily="2" charset="0"/>
              </a:rPr>
              <a:t>			</a:t>
            </a:r>
            <a:r>
              <a:rPr lang="en-GB" sz="2400" dirty="0" err="1">
                <a:latin typeface="UT Sans Medium" panose="00000500000000000000" pitchFamily="2" charset="0"/>
              </a:rPr>
              <a:t>Runceanu</a:t>
            </a:r>
            <a:r>
              <a:rPr lang="en-GB" sz="2400" dirty="0">
                <a:latin typeface="UT Sans Medium" panose="00000500000000000000" pitchFamily="2" charset="0"/>
              </a:rPr>
              <a:t> Vlad</a:t>
            </a:r>
          </a:p>
          <a:p>
            <a:r>
              <a:rPr lang="en-GB" sz="2400" dirty="0">
                <a:latin typeface="UT Sans Medium" panose="00000500000000000000" pitchFamily="2" charset="0"/>
              </a:rPr>
              <a:t>			Munteanu Daniel</a:t>
            </a:r>
          </a:p>
          <a:p>
            <a:r>
              <a:rPr lang="en-GB" sz="2400" dirty="0">
                <a:latin typeface="UT Sans Medium" panose="00000500000000000000" pitchFamily="2" charset="0"/>
              </a:rPr>
              <a:t>			Stoian Dana</a:t>
            </a:r>
            <a:endParaRPr lang="en-GB" sz="2400" dirty="0">
              <a:latin typeface="UT Sans" panose="00000500000000000000" pitchFamily="2" charset="0"/>
            </a:endParaRPr>
          </a:p>
          <a:p>
            <a:endParaRPr lang="en-GB" sz="2400" dirty="0">
              <a:latin typeface="UT Sans" panose="00000500000000000000" pitchFamily="2" charset="0"/>
            </a:endParaRPr>
          </a:p>
          <a:p>
            <a:r>
              <a:rPr lang="en-GB" sz="2400" dirty="0" err="1">
                <a:latin typeface="UT Sans Medium" panose="00000500000000000000" pitchFamily="2" charset="0"/>
              </a:rPr>
              <a:t>Profesor</a:t>
            </a:r>
            <a:r>
              <a:rPr lang="en-GB" sz="2400" dirty="0">
                <a:latin typeface="UT Sans Medium" panose="00000500000000000000" pitchFamily="2" charset="0"/>
              </a:rPr>
              <a:t> </a:t>
            </a:r>
            <a:r>
              <a:rPr lang="en-GB" sz="2400" dirty="0" err="1">
                <a:latin typeface="UT Sans Medium" panose="00000500000000000000" pitchFamily="2" charset="0"/>
              </a:rPr>
              <a:t>coordonator</a:t>
            </a:r>
            <a:r>
              <a:rPr lang="en-GB" sz="2400" dirty="0">
                <a:latin typeface="UT Sans Medium" panose="00000500000000000000" pitchFamily="2" charset="0"/>
              </a:rPr>
              <a:t>: </a:t>
            </a:r>
            <a:r>
              <a:rPr lang="en-GB" sz="2400" dirty="0">
                <a:latin typeface="UT Sans" panose="00000500000000000000" pitchFamily="2" charset="0"/>
              </a:rPr>
              <a:t>Ciobanu Catalin</a:t>
            </a:r>
          </a:p>
          <a:p>
            <a:endParaRPr lang="en-GB" sz="2400" dirty="0">
              <a:latin typeface="UT Sans" panose="00000500000000000000" pitchFamily="2" charset="0"/>
            </a:endParaRPr>
          </a:p>
          <a:p>
            <a:r>
              <a:rPr lang="en-GB" sz="2400" dirty="0" err="1">
                <a:latin typeface="UT Sans Medium" panose="00000500000000000000" pitchFamily="2" charset="0"/>
              </a:rPr>
              <a:t>Tehnologii</a:t>
            </a:r>
            <a:r>
              <a:rPr lang="en-GB" sz="2400" dirty="0">
                <a:latin typeface="UT Sans Medium" panose="00000500000000000000" pitchFamily="2" charset="0"/>
              </a:rPr>
              <a:t> </a:t>
            </a:r>
            <a:r>
              <a:rPr lang="ro-RO" sz="2400" dirty="0">
                <a:latin typeface="UT Sans Medium" panose="00000500000000000000" pitchFamily="2" charset="0"/>
              </a:rPr>
              <a:t>și Sisteme de telecomunicații</a:t>
            </a:r>
          </a:p>
          <a:p>
            <a:endParaRPr lang="ro-RO" sz="2400" dirty="0">
              <a:latin typeface="UT Sans Medium" panose="00000500000000000000" pitchFamily="2" charset="0"/>
            </a:endParaRPr>
          </a:p>
          <a:p>
            <a:r>
              <a:rPr lang="ro-RO" sz="2400" dirty="0">
                <a:latin typeface="UT Sans Medium" panose="00000500000000000000" pitchFamily="2" charset="0"/>
              </a:rPr>
              <a:t>An</a:t>
            </a:r>
            <a:r>
              <a:rPr lang="en-GB" sz="2400" dirty="0">
                <a:latin typeface="UT Sans Medium" panose="00000500000000000000" pitchFamily="2" charset="0"/>
              </a:rPr>
              <a:t>: 2026</a:t>
            </a:r>
            <a:endParaRPr lang="ro-RO" sz="2400" dirty="0">
              <a:latin typeface="UT Sans Medium" panose="00000500000000000000" pitchFamily="2" charset="0"/>
            </a:endParaRPr>
          </a:p>
          <a:p>
            <a:endParaRPr lang="en-US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DDCFC6-B507-7E9E-3C5D-EF31FD3EA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1</a:t>
            </a:fld>
            <a:endParaRPr lang="en-US" sz="1200" b="1" dirty="0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011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59AEB9-A55E-F09F-973B-75E3DB19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64008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2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2281E-E621-4EAF-20E7-A104799EC8ED}"/>
              </a:ext>
            </a:extLst>
          </p:cNvPr>
          <p:cNvSpPr txBox="1"/>
          <p:nvPr/>
        </p:nvSpPr>
        <p:spPr>
          <a:xfrm>
            <a:off x="1079612" y="1053401"/>
            <a:ext cx="786778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 err="1">
                <a:latin typeface="UT Sans" panose="00000500000000000000" pitchFamily="2" charset="0"/>
              </a:rPr>
              <a:t>Cuprins</a:t>
            </a:r>
            <a:r>
              <a:rPr lang="en-GB" sz="2800" b="1" dirty="0">
                <a:latin typeface="UT Sans" panose="00000500000000000000" pitchFamily="2" charset="0"/>
              </a:rPr>
              <a:t>:</a:t>
            </a:r>
          </a:p>
          <a:p>
            <a:endParaRPr lang="en-GB" sz="2400" b="1" dirty="0">
              <a:latin typeface="UT Sans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b="1" dirty="0" err="1">
                <a:latin typeface="UT Sans Light" panose="00000500000000000000" pitchFamily="2" charset="0"/>
              </a:rPr>
              <a:t>Tem</a:t>
            </a:r>
            <a:r>
              <a:rPr lang="ro-RO" sz="2400" b="1" dirty="0">
                <a:latin typeface="UT Sans Light" panose="00000500000000000000" pitchFamily="2" charset="0"/>
              </a:rPr>
              <a:t>ă și obiective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 err="1">
                <a:latin typeface="UT Sans Light" panose="00000500000000000000" pitchFamily="2" charset="0"/>
              </a:rPr>
              <a:t>Componente</a:t>
            </a:r>
            <a:r>
              <a:rPr lang="en-GB" sz="2400" b="1" dirty="0">
                <a:latin typeface="UT Sans Light" panose="00000500000000000000" pitchFamily="2" charset="0"/>
              </a:rPr>
              <a:t> software</a:t>
            </a:r>
            <a:endParaRPr lang="ro-RO" sz="2400" b="1" dirty="0">
              <a:latin typeface="UT Sans Light" panose="00000500000000000000" pitchFamily="2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o-RO" sz="2400" b="1" dirty="0">
                <a:latin typeface="UT Sans Light" panose="00000500000000000000" pitchFamily="2" charset="0"/>
              </a:rPr>
              <a:t>Descrierea </a:t>
            </a:r>
            <a:r>
              <a:rPr lang="en-US" sz="2400" b="1" dirty="0" err="1">
                <a:latin typeface="UT Sans Light" panose="00000500000000000000" pitchFamily="2" charset="0"/>
              </a:rPr>
              <a:t>aplicatiei</a:t>
            </a:r>
            <a:r>
              <a:rPr lang="ro-RO" sz="2400" b="1" dirty="0">
                <a:latin typeface="UT Sans Light" panose="00000500000000000000" pitchFamily="2" charset="0"/>
              </a:rPr>
              <a:t> propus</a:t>
            </a:r>
            <a:r>
              <a:rPr lang="en-US" sz="2400" b="1" dirty="0">
                <a:latin typeface="UT Sans Light" panose="00000500000000000000" pitchFamily="2" charset="0"/>
              </a:rPr>
              <a:t>e</a:t>
            </a:r>
            <a:r>
              <a:rPr lang="ro-RO" sz="2400" b="1" dirty="0">
                <a:latin typeface="UT Sans Light" panose="00000500000000000000" pitchFamily="2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 err="1">
                <a:latin typeface="UT Sans Light" panose="00000500000000000000" pitchFamily="2" charset="0"/>
              </a:rPr>
              <a:t>Functionalitati</a:t>
            </a:r>
            <a:r>
              <a:rPr lang="en-US" sz="2400" b="1" dirty="0">
                <a:latin typeface="UT Sans Light" panose="00000500000000000000" pitchFamily="2" charset="0"/>
              </a:rPr>
              <a:t> </a:t>
            </a:r>
            <a:r>
              <a:rPr lang="en-US" sz="2400" b="1" dirty="0" err="1">
                <a:latin typeface="UT Sans Light" panose="00000500000000000000" pitchFamily="2" charset="0"/>
              </a:rPr>
              <a:t>adaugate</a:t>
            </a:r>
            <a:r>
              <a:rPr lang="ro-RO" sz="2400" b="1" dirty="0">
                <a:latin typeface="UT Sans Light" panose="00000500000000000000" pitchFamily="2" charset="0"/>
              </a:rPr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b="1" dirty="0">
                <a:latin typeface="UT Sans Light" panose="00000500000000000000" pitchFamily="2" charset="0"/>
              </a:rPr>
              <a:t>Testare și rezultate obținute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b="1" dirty="0">
                <a:latin typeface="UT Sans Light" panose="00000500000000000000" pitchFamily="2" charset="0"/>
              </a:rPr>
              <a:t>Concluzii  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b="1" dirty="0">
                <a:latin typeface="UT Sans Light" panose="00000500000000000000" pitchFamily="2" charset="0"/>
              </a:rPr>
              <a:t>Direcții viitoare de dezvoltare</a:t>
            </a:r>
          </a:p>
          <a:p>
            <a:pPr marL="457200" indent="-457200">
              <a:buFont typeface="+mj-lt"/>
              <a:buAutoNum type="arabicPeriod"/>
            </a:pPr>
            <a:r>
              <a:rPr lang="ro-RO" sz="2400" b="1" dirty="0">
                <a:latin typeface="UT Sans Light" panose="00000500000000000000" pitchFamily="2" charset="0"/>
              </a:rPr>
              <a:t>Demonstrație</a:t>
            </a:r>
          </a:p>
        </p:txBody>
      </p:sp>
    </p:spTree>
    <p:extLst>
      <p:ext uri="{BB962C8B-B14F-4D97-AF65-F5344CB8AC3E}">
        <p14:creationId xmlns:p14="http://schemas.microsoft.com/office/powerpoint/2010/main" val="2490966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1"/>
            <a:ext cx="1944216" cy="5310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BC2338F-2A08-AE6C-AD17-64A39E964F4C}"/>
              </a:ext>
            </a:extLst>
          </p:cNvPr>
          <p:cNvSpPr txBox="1"/>
          <p:nvPr/>
        </p:nvSpPr>
        <p:spPr>
          <a:xfrm>
            <a:off x="1331640" y="1088740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ro-RO" sz="2000" dirty="0">
              <a:latin typeface="UT Sans" pitchFamily="50" charset="0"/>
            </a:endParaRPr>
          </a:p>
          <a:p>
            <a:pPr marL="342900" indent="-342900" algn="just">
              <a:buBlip>
                <a:blip r:embed="rId3"/>
              </a:buBlip>
            </a:pPr>
            <a:endParaRPr lang="en-US" sz="2000" dirty="0">
              <a:latin typeface="UT Sans" pitchFamily="50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D4C3ED3-4E7F-69CD-E4A8-14D40322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4961" y="6058234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3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565EE8-6879-1BFA-38A3-3E8E74A9F8E7}"/>
              </a:ext>
            </a:extLst>
          </p:cNvPr>
          <p:cNvSpPr txBox="1"/>
          <p:nvPr/>
        </p:nvSpPr>
        <p:spPr>
          <a:xfrm>
            <a:off x="629562" y="907558"/>
            <a:ext cx="7884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Temă și obiective</a:t>
            </a:r>
            <a:endParaRPr lang="en-US" sz="2800" dirty="0">
              <a:latin typeface="UT Sans Bold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716E26-8BF5-8370-6560-3FA84290FC46}"/>
              </a:ext>
            </a:extLst>
          </p:cNvPr>
          <p:cNvSpPr txBox="1"/>
          <p:nvPr/>
        </p:nvSpPr>
        <p:spPr>
          <a:xfrm>
            <a:off x="340230" y="1988840"/>
            <a:ext cx="84635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Blip>
                <a:blip r:embed="rId3"/>
              </a:buBlip>
            </a:pPr>
            <a:r>
              <a:rPr lang="ro-RO" sz="2000" dirty="0">
                <a:latin typeface="UT Sans" panose="00000500000000000000" pitchFamily="2" charset="0"/>
              </a:rPr>
              <a:t>Tema proiectului este implementarea u</a:t>
            </a:r>
            <a:r>
              <a:rPr lang="en-US" sz="2000" dirty="0" err="1">
                <a:latin typeface="UT Sans" panose="00000500000000000000" pitchFamily="2" charset="0"/>
              </a:rPr>
              <a:t>nei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aplicatii</a:t>
            </a:r>
            <a:r>
              <a:rPr lang="en-US" sz="2000" dirty="0">
                <a:latin typeface="UT Sans" panose="00000500000000000000" pitchFamily="2" charset="0"/>
              </a:rPr>
              <a:t> web de </a:t>
            </a:r>
            <a:r>
              <a:rPr lang="en-US" sz="2000" dirty="0" err="1">
                <a:latin typeface="UT Sans" panose="00000500000000000000" pitchFamily="2" charset="0"/>
              </a:rPr>
              <a:t>tipul</a:t>
            </a:r>
            <a:r>
              <a:rPr lang="en-US" sz="2000" dirty="0">
                <a:latin typeface="UT Sans" panose="00000500000000000000" pitchFamily="2" charset="0"/>
              </a:rPr>
              <a:t> paint care </a:t>
            </a:r>
            <a:r>
              <a:rPr lang="en-US" sz="2000" dirty="0" err="1">
                <a:latin typeface="UT Sans" panose="00000500000000000000" pitchFamily="2" charset="0"/>
              </a:rPr>
              <a:t>sa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acopere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facilitatile</a:t>
            </a:r>
            <a:r>
              <a:rPr lang="en-US" sz="2000" dirty="0">
                <a:latin typeface="UT Sans" panose="00000500000000000000" pitchFamily="2" charset="0"/>
              </a:rPr>
              <a:t> de </a:t>
            </a:r>
            <a:r>
              <a:rPr lang="en-US" sz="2000" dirty="0" err="1">
                <a:latin typeface="UT Sans" panose="00000500000000000000" pitchFamily="2" charset="0"/>
              </a:rPr>
              <a:t>baza</a:t>
            </a:r>
            <a:r>
              <a:rPr lang="en-US" sz="2000" dirty="0">
                <a:latin typeface="UT Sans" panose="00000500000000000000" pitchFamily="2" charset="0"/>
              </a:rPr>
              <a:t> de care are </a:t>
            </a:r>
            <a:r>
              <a:rPr lang="en-US" sz="2000" dirty="0" err="1">
                <a:latin typeface="UT Sans" panose="00000500000000000000" pitchFamily="2" charset="0"/>
              </a:rPr>
              <a:t>nevoie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utilizatorul</a:t>
            </a:r>
            <a:r>
              <a:rPr lang="en-US" sz="2000" dirty="0">
                <a:latin typeface="UT Sans" panose="00000500000000000000" pitchFamily="2" charset="0"/>
              </a:rPr>
              <a:t> final.</a:t>
            </a:r>
            <a:endParaRPr lang="en-GB" sz="2000" dirty="0">
              <a:latin typeface="UT Sans" panose="00000500000000000000" pitchFamily="2" charset="0"/>
            </a:endParaRPr>
          </a:p>
          <a:p>
            <a:pPr algn="just"/>
            <a:endParaRPr lang="en-US" sz="2000" dirty="0">
              <a:latin typeface="UT Sans" panose="00000500000000000000" pitchFamily="2" charset="0"/>
            </a:endParaRPr>
          </a:p>
          <a:p>
            <a:pPr algn="just"/>
            <a:r>
              <a:rPr lang="ro-RO" sz="2000" dirty="0">
                <a:latin typeface="UT Sans" panose="00000500000000000000" pitchFamily="2" charset="0"/>
              </a:rPr>
              <a:t>Obiective</a:t>
            </a:r>
            <a:r>
              <a:rPr lang="en-GB" sz="2000" dirty="0">
                <a:latin typeface="UT Sans" panose="00000500000000000000" pitchFamily="2" charset="0"/>
              </a:rPr>
              <a:t>:</a:t>
            </a:r>
            <a:endParaRPr lang="en-US" sz="2000" dirty="0">
              <a:latin typeface="UT Sans" panose="00000500000000000000" pitchFamily="2" charset="0"/>
            </a:endParaRPr>
          </a:p>
          <a:p>
            <a:pPr algn="just"/>
            <a:endParaRPr lang="ro-RO" sz="2000" dirty="0">
              <a:latin typeface="UT Sans" panose="00000500000000000000" pitchFamily="2" charset="0"/>
              <a:ea typeface="UT Symbols" charset="0"/>
              <a:cs typeface="UT Symbols" charset="0"/>
            </a:endParaRPr>
          </a:p>
          <a:p>
            <a:pPr marL="342900" indent="-342900" algn="just">
              <a:lnSpc>
                <a:spcPct val="150000"/>
              </a:lnSpc>
              <a:buBlip>
                <a:blip r:embed="rId3"/>
              </a:buBlip>
            </a:pPr>
            <a:r>
              <a:rPr lang="en-US" sz="2000" dirty="0" err="1">
                <a:latin typeface="UT Sans" panose="00000500000000000000" pitchFamily="2" charset="0"/>
              </a:rPr>
              <a:t>Desenarea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usoara</a:t>
            </a:r>
            <a:r>
              <a:rPr lang="en-US" sz="2000" dirty="0">
                <a:latin typeface="UT Sans" panose="00000500000000000000" pitchFamily="2" charset="0"/>
              </a:rPr>
              <a:t> cu </a:t>
            </a:r>
            <a:r>
              <a:rPr lang="en-US" sz="2000" dirty="0" err="1">
                <a:latin typeface="UT Sans" panose="00000500000000000000" pitchFamily="2" charset="0"/>
              </a:rPr>
              <a:t>ajutorul</a:t>
            </a:r>
            <a:r>
              <a:rPr lang="en-US" sz="2000" dirty="0">
                <a:latin typeface="UT Sans" panose="00000500000000000000" pitchFamily="2" charset="0"/>
              </a:rPr>
              <a:t> mouse-</a:t>
            </a:r>
            <a:r>
              <a:rPr lang="en-US" sz="2000" dirty="0" err="1">
                <a:latin typeface="UT Sans" panose="00000500000000000000" pitchFamily="2" charset="0"/>
              </a:rPr>
              <a:t>ului</a:t>
            </a: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sz="2000" dirty="0" err="1">
                <a:latin typeface="UT Sans" panose="00000500000000000000" pitchFamily="2" charset="0"/>
              </a:rPr>
              <a:t>Asigurarea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posibilitatii</a:t>
            </a:r>
            <a:r>
              <a:rPr lang="en-US" sz="2000" dirty="0">
                <a:latin typeface="UT Sans" panose="00000500000000000000" pitchFamily="2" charset="0"/>
              </a:rPr>
              <a:t> de a </a:t>
            </a:r>
            <a:r>
              <a:rPr lang="en-US" sz="2000" dirty="0" err="1">
                <a:latin typeface="UT Sans" panose="00000500000000000000" pitchFamily="2" charset="0"/>
              </a:rPr>
              <a:t>salva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lucrul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curent</a:t>
            </a: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sz="2000" dirty="0">
                <a:latin typeface="UT Sans" panose="00000500000000000000" pitchFamily="2" charset="0"/>
              </a:rPr>
              <a:t>Design </a:t>
            </a:r>
            <a:r>
              <a:rPr lang="en-US" sz="2000" dirty="0" err="1">
                <a:latin typeface="UT Sans" panose="00000500000000000000" pitchFamily="2" charset="0"/>
              </a:rPr>
              <a:t>placut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si</a:t>
            </a:r>
            <a:r>
              <a:rPr lang="en-US" sz="2000" dirty="0">
                <a:latin typeface="UT Sans" panose="00000500000000000000" pitchFamily="2" charset="0"/>
              </a:rPr>
              <a:t> </a:t>
            </a:r>
            <a:r>
              <a:rPr lang="en-US" sz="2000" dirty="0" err="1">
                <a:latin typeface="UT Sans" panose="00000500000000000000" pitchFamily="2" charset="0"/>
              </a:rPr>
              <a:t>intuitiv</a:t>
            </a:r>
            <a:endParaRPr lang="ro-RO" sz="2000" dirty="0">
              <a:latin typeface="UT Sans" panose="00000500000000000000" pitchFamily="2" charset="0"/>
            </a:endParaRPr>
          </a:p>
          <a:p>
            <a:pPr marL="342900" indent="-342900">
              <a:lnSpc>
                <a:spcPct val="150000"/>
              </a:lnSpc>
              <a:buBlip>
                <a:blip r:embed="rId3"/>
              </a:buBlip>
            </a:pPr>
            <a:r>
              <a:rPr lang="en-US" sz="2000" dirty="0">
                <a:latin typeface="UT Sans" panose="00000500000000000000" pitchFamily="2" charset="0"/>
              </a:rPr>
              <a:t>Buna </a:t>
            </a:r>
            <a:r>
              <a:rPr lang="en-US" sz="2000" dirty="0" err="1">
                <a:latin typeface="UT Sans" panose="00000500000000000000" pitchFamily="2" charset="0"/>
              </a:rPr>
              <a:t>functionare</a:t>
            </a:r>
            <a:r>
              <a:rPr lang="en-US" sz="2000" dirty="0">
                <a:latin typeface="UT Sans" panose="00000500000000000000" pitchFamily="2" charset="0"/>
              </a:rPr>
              <a:t> in </a:t>
            </a:r>
            <a:r>
              <a:rPr lang="en-US" sz="2000" dirty="0" err="1">
                <a:latin typeface="UT Sans" panose="00000500000000000000" pitchFamily="2" charset="0"/>
              </a:rPr>
              <a:t>conditii</a:t>
            </a:r>
            <a:r>
              <a:rPr lang="en-US" sz="2000" dirty="0">
                <a:latin typeface="UT Sans" panose="00000500000000000000" pitchFamily="2" charset="0"/>
              </a:rPr>
              <a:t> de </a:t>
            </a:r>
            <a:r>
              <a:rPr lang="en-US" sz="2000" dirty="0" err="1">
                <a:latin typeface="UT Sans" panose="00000500000000000000" pitchFamily="2" charset="0"/>
              </a:rPr>
              <a:t>suprasolicitare</a:t>
            </a:r>
            <a:endParaRPr lang="ro-RO" sz="2000" dirty="0">
              <a:latin typeface="UT Sans" panose="00000500000000000000" pitchFamily="2" charset="0"/>
            </a:endParaRPr>
          </a:p>
          <a:p>
            <a:pPr algn="just"/>
            <a:endParaRPr lang="ro-RO" sz="2000" dirty="0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3293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5901D-EF8D-A3BF-EC73-C021E3A1F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FF0E8B7-9192-747E-E393-C8403CF0F2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293B6B-AF96-09FB-5788-948DD9DB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4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2BD23-BE45-92F8-DA5B-D24325996427}"/>
              </a:ext>
            </a:extLst>
          </p:cNvPr>
          <p:cNvSpPr txBox="1"/>
          <p:nvPr/>
        </p:nvSpPr>
        <p:spPr>
          <a:xfrm>
            <a:off x="1143564" y="872716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err="1">
                <a:latin typeface="UT Sans Bold" panose="00000500000000000000" pitchFamily="2" charset="0"/>
              </a:rPr>
              <a:t>Componente</a:t>
            </a:r>
            <a:r>
              <a:rPr lang="ro-RO" sz="2800" dirty="0">
                <a:latin typeface="UT Sans Bold" panose="00000500000000000000" pitchFamily="2" charset="0"/>
              </a:rPr>
              <a:t> software</a:t>
            </a: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63024FFB-B41B-CAE5-B0FC-1AACE9CC6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7" y="1893361"/>
            <a:ext cx="7884368" cy="307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16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04C99-D610-4A49-8F1F-57FE05E27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9E68B5-C5C8-3D09-8880-4771F770C2DB}"/>
              </a:ext>
            </a:extLst>
          </p:cNvPr>
          <p:cNvSpPr txBox="1"/>
          <p:nvPr/>
        </p:nvSpPr>
        <p:spPr>
          <a:xfrm>
            <a:off x="666478" y="1886733"/>
            <a:ext cx="7848872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UT Sans" pitchFamily="50" charset="0"/>
              </a:rPr>
              <a:t> </a:t>
            </a:r>
            <a:endParaRPr lang="ro-RO" sz="2000" dirty="0">
              <a:latin typeface="UT Sans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1A3133-DB49-6204-9C09-6B3771BC2D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067A66-ABE0-5380-23D3-820A674B0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22664" y="6170303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5</a:t>
            </a:fld>
            <a:endParaRPr lang="en-US" sz="1200" b="1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08E4A3-A60B-8879-FE33-EB8CF232B7F2}"/>
              </a:ext>
            </a:extLst>
          </p:cNvPr>
          <p:cNvSpPr txBox="1"/>
          <p:nvPr/>
        </p:nvSpPr>
        <p:spPr>
          <a:xfrm>
            <a:off x="1187624" y="1124744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Descrierea </a:t>
            </a:r>
            <a:r>
              <a:rPr lang="en-US" sz="2800" dirty="0" err="1">
                <a:latin typeface="UT Sans Bold" panose="00000500000000000000" pitchFamily="2" charset="0"/>
              </a:rPr>
              <a:t>aplicatiei</a:t>
            </a:r>
            <a:r>
              <a:rPr lang="ro-RO" sz="2800" dirty="0">
                <a:latin typeface="UT Sans Bold" panose="00000500000000000000" pitchFamily="2" charset="0"/>
              </a:rPr>
              <a:t> propus</a:t>
            </a:r>
            <a:r>
              <a:rPr lang="en-US" sz="2800" dirty="0">
                <a:latin typeface="UT Sans Bold" panose="00000500000000000000" pitchFamily="2" charset="0"/>
              </a:rPr>
              <a:t>e</a:t>
            </a:r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id="{53FFF647-BEB2-D4CE-059A-330D6BE51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709" y="2139879"/>
            <a:ext cx="8340410" cy="222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68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56" y="263933"/>
            <a:ext cx="1944216" cy="53104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CFAE08-FE5C-3C28-41A1-D072E92F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52948" y="6109323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6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BBEF60-8C14-4E4C-2187-8049CE523FF9}"/>
              </a:ext>
            </a:extLst>
          </p:cNvPr>
          <p:cNvSpPr txBox="1"/>
          <p:nvPr/>
        </p:nvSpPr>
        <p:spPr>
          <a:xfrm>
            <a:off x="2735796" y="6319409"/>
            <a:ext cx="39244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600" dirty="0">
                <a:latin typeface="UT Sans Medium" panose="00000500000000000000" pitchFamily="2" charset="0"/>
              </a:rPr>
              <a:t> </a:t>
            </a:r>
            <a:endParaRPr lang="en-US" sz="1600" dirty="0">
              <a:latin typeface="UT Sans Medium" panose="00000500000000000000" pitchFamily="2" charset="0"/>
            </a:endParaRPr>
          </a:p>
        </p:txBody>
      </p:sp>
      <p:pic>
        <p:nvPicPr>
          <p:cNvPr id="9" name="Imagine 8">
            <a:extLst>
              <a:ext uri="{FF2B5EF4-FFF2-40B4-BE49-F238E27FC236}">
                <a16:creationId xmlns:a16="http://schemas.microsoft.com/office/drawing/2014/main" id="{5EAE3FC2-79B3-5BEF-4B3C-5C0263D02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659" y="805943"/>
            <a:ext cx="7250682" cy="588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904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C72375B-3EA5-7B14-3FD2-39B33CF35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DIAGRAMA CORECTA!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AF7A40D9-235E-BE71-22FE-C6FE216DB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-------DE PUS ------</a:t>
            </a:r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81CB2AD5-6738-0B2E-8B6E-AFE82B237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A3DBB-FBA3-4A4C-B7D7-E60F12564F1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99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84EC3-D7A8-EC41-2ED7-C475159CE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96" y="6146265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8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21B47C-6EE2-AE2C-C7C3-9710404786D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56" y="186835"/>
            <a:ext cx="2008633" cy="548640"/>
          </a:xfrm>
          <a:prstGeom prst="rect">
            <a:avLst/>
          </a:prstGeom>
        </p:spPr>
      </p:pic>
      <p:sp>
        <p:nvSpPr>
          <p:cNvPr id="11" name="CasetăText 10">
            <a:extLst>
              <a:ext uri="{FF2B5EF4-FFF2-40B4-BE49-F238E27FC236}">
                <a16:creationId xmlns:a16="http://schemas.microsoft.com/office/drawing/2014/main" id="{DB97ED59-957A-58C9-D9F9-7E41A06C6333}"/>
              </a:ext>
            </a:extLst>
          </p:cNvPr>
          <p:cNvSpPr txBox="1"/>
          <p:nvPr/>
        </p:nvSpPr>
        <p:spPr>
          <a:xfrm>
            <a:off x="2123728" y="1016732"/>
            <a:ext cx="5112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 err="1">
                <a:latin typeface="UT Sans Bold" panose="00000500000000000000" pitchFamily="2" charset="0"/>
              </a:rPr>
              <a:t>Functionalitati</a:t>
            </a:r>
            <a:r>
              <a:rPr lang="en-US" sz="2800" dirty="0">
                <a:latin typeface="UT Sans Bold" panose="00000500000000000000" pitchFamily="2" charset="0"/>
              </a:rPr>
              <a:t> </a:t>
            </a:r>
            <a:r>
              <a:rPr lang="en-US" sz="2800" dirty="0" err="1">
                <a:latin typeface="UT Sans Bold" panose="00000500000000000000" pitchFamily="2" charset="0"/>
              </a:rPr>
              <a:t>introduse</a:t>
            </a:r>
            <a:endParaRPr lang="en-US" sz="2800" dirty="0">
              <a:latin typeface="UT Sans Bold" panose="00000500000000000000" pitchFamily="2" charset="0"/>
            </a:endParaRPr>
          </a:p>
        </p:txBody>
      </p:sp>
      <p:pic>
        <p:nvPicPr>
          <p:cNvPr id="13" name="Imagine 12">
            <a:extLst>
              <a:ext uri="{FF2B5EF4-FFF2-40B4-BE49-F238E27FC236}">
                <a16:creationId xmlns:a16="http://schemas.microsoft.com/office/drawing/2014/main" id="{F9A15A79-14BD-2BAD-4276-E9BF14187C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7671" y="1988840"/>
            <a:ext cx="5928658" cy="2052228"/>
          </a:xfrm>
          <a:prstGeom prst="rect">
            <a:avLst/>
          </a:prstGeom>
        </p:spPr>
      </p:pic>
      <p:sp>
        <p:nvSpPr>
          <p:cNvPr id="14" name="CasetăText 13">
            <a:extLst>
              <a:ext uri="{FF2B5EF4-FFF2-40B4-BE49-F238E27FC236}">
                <a16:creationId xmlns:a16="http://schemas.microsoft.com/office/drawing/2014/main" id="{11FDD084-7BEC-D2CC-BF6F-31DCC4EF4357}"/>
              </a:ext>
            </a:extLst>
          </p:cNvPr>
          <p:cNvSpPr txBox="1"/>
          <p:nvPr/>
        </p:nvSpPr>
        <p:spPr>
          <a:xfrm>
            <a:off x="1607672" y="4489956"/>
            <a:ext cx="5928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Undo</a:t>
            </a:r>
          </a:p>
          <a:p>
            <a:pPr marL="285750" indent="-285750">
              <a:buFontTx/>
              <a:buChar char="-"/>
            </a:pPr>
            <a:r>
              <a:rPr lang="en-US" dirty="0"/>
              <a:t>Zoom (-)</a:t>
            </a:r>
          </a:p>
          <a:p>
            <a:pPr marL="285750" indent="-285750">
              <a:buFontTx/>
              <a:buChar char="-"/>
            </a:pPr>
            <a:r>
              <a:rPr lang="en-US" dirty="0"/>
              <a:t>Redo</a:t>
            </a:r>
          </a:p>
          <a:p>
            <a:pPr marL="285750" indent="-285750">
              <a:buFontTx/>
              <a:buChar char="-"/>
            </a:pPr>
            <a:r>
              <a:rPr lang="en-US" dirty="0"/>
              <a:t>Zoom (+)</a:t>
            </a:r>
          </a:p>
        </p:txBody>
      </p:sp>
    </p:spTree>
    <p:extLst>
      <p:ext uri="{BB962C8B-B14F-4D97-AF65-F5344CB8AC3E}">
        <p14:creationId xmlns:p14="http://schemas.microsoft.com/office/powerpoint/2010/main" val="245868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416C2F8-A84C-4357-A755-81D3F466DD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>
            <a:extLst>
              <a:ext uri="{FF2B5EF4-FFF2-40B4-BE49-F238E27FC236}">
                <a16:creationId xmlns:a16="http://schemas.microsoft.com/office/drawing/2014/main" id="{031306E5-EFE3-459A-89EF-0EF2185CDE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Substituent conținut 5">
            <a:extLst>
              <a:ext uri="{FF2B5EF4-FFF2-40B4-BE49-F238E27FC236}">
                <a16:creationId xmlns:a16="http://schemas.microsoft.com/office/drawing/2014/main" id="{4BF24AF9-D11A-3152-6CF7-1D8EDE5328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8391"/>
          <a:stretch>
            <a:fillRect/>
          </a:stretch>
        </p:blipFill>
        <p:spPr>
          <a:xfrm>
            <a:off x="4160863" y="609600"/>
            <a:ext cx="3945486" cy="5181599"/>
          </a:xfrm>
          <a:prstGeom prst="roundRect">
            <a:avLst>
              <a:gd name="adj" fmla="val 2392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A23C976-ECF8-49F1-914B-B5BD60613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2F026AF4-8CCB-A24F-CDF7-057BC897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85508" y="5883275"/>
            <a:ext cx="573161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735A3DBB-FBA3-4A4C-B7D7-E60F12564F18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2" name="Titlu 1">
            <a:extLst>
              <a:ext uri="{FF2B5EF4-FFF2-40B4-BE49-F238E27FC236}">
                <a16:creationId xmlns:a16="http://schemas.microsoft.com/office/drawing/2014/main" id="{51CBA665-2A10-CBDF-E911-C23069F4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580" y="2402310"/>
            <a:ext cx="2920482" cy="159617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2800" dirty="0" err="1"/>
              <a:t>Alegere</a:t>
            </a:r>
            <a:r>
              <a:rPr lang="en-US" sz="2800" dirty="0"/>
              <a:t> </a:t>
            </a:r>
            <a:r>
              <a:rPr lang="en-US" sz="2800" dirty="0" err="1"/>
              <a:t>culoare</a:t>
            </a:r>
            <a:r>
              <a:rPr lang="en-US" sz="2800" dirty="0"/>
              <a:t> </a:t>
            </a:r>
            <a:r>
              <a:rPr lang="en-US" sz="2800" dirty="0" err="1"/>
              <a:t>noua</a:t>
            </a:r>
            <a:r>
              <a:rPr lang="en-US" sz="2800" dirty="0"/>
              <a:t> din paleta de </a:t>
            </a:r>
            <a:r>
              <a:rPr lang="en-US" sz="2800" dirty="0" err="1"/>
              <a:t>culori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33421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5320-8352-3BB8-AA21-7878F8D45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7EF294-ED85-D4C6-D7A6-685902C91E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76677B-D3D7-A4F7-8C02-00C3DA706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36396" y="6093296"/>
            <a:ext cx="731520" cy="548640"/>
          </a:xfrm>
        </p:spPr>
        <p:txBody>
          <a:bodyPr/>
          <a:lstStyle/>
          <a:p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t>10</a:t>
            </a:fld>
            <a:endParaRPr lang="en-US" sz="1200" b="1">
              <a:latin typeface="UT Sans" panose="000005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8DEC37-BD1C-546E-9FBB-2641E1F8DB8C}"/>
              </a:ext>
            </a:extLst>
          </p:cNvPr>
          <p:cNvSpPr txBox="1"/>
          <p:nvPr/>
        </p:nvSpPr>
        <p:spPr>
          <a:xfrm>
            <a:off x="2411760" y="1160748"/>
            <a:ext cx="50045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Testare și rezultate obținute</a:t>
            </a:r>
            <a:endParaRPr lang="en-US" sz="2800" dirty="0">
              <a:latin typeface="UT Sans Bo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754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638A0-B4FD-5C43-27C9-6E110CA6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D02F972-FF34-C5A5-DABF-86C6727D6E2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D1A250-9D15-EA2D-DD8B-8F13FD07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11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DE5021-CC50-429D-BB4F-4FF0DE12ED5F}"/>
              </a:ext>
            </a:extLst>
          </p:cNvPr>
          <p:cNvSpPr txBox="1"/>
          <p:nvPr/>
        </p:nvSpPr>
        <p:spPr>
          <a:xfrm>
            <a:off x="2123728" y="984079"/>
            <a:ext cx="55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Testare și rezultate obținute</a:t>
            </a:r>
            <a:endParaRPr lang="en-US" sz="2800" dirty="0">
              <a:latin typeface="UT Sans Bo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37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CFE0-7288-8B98-4E30-F3E81262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BB2E360-5286-E71A-5697-9D0843D21F3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2556A-6F49-3110-E815-F64A27277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12</a:t>
            </a:fld>
            <a:endParaRPr lang="en-US" sz="1200" b="1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F74C6-13E6-C278-EA1B-306F6653CF2E}"/>
              </a:ext>
            </a:extLst>
          </p:cNvPr>
          <p:cNvSpPr txBox="1"/>
          <p:nvPr/>
        </p:nvSpPr>
        <p:spPr>
          <a:xfrm>
            <a:off x="2771800" y="1048670"/>
            <a:ext cx="45801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dirty="0">
                <a:latin typeface="UT Sans Bold" panose="00000500000000000000" pitchFamily="2" charset="0"/>
              </a:rPr>
              <a:t>Testare și rezultate obținute</a:t>
            </a:r>
          </a:p>
        </p:txBody>
      </p:sp>
    </p:spTree>
    <p:extLst>
      <p:ext uri="{BB962C8B-B14F-4D97-AF65-F5344CB8AC3E}">
        <p14:creationId xmlns:p14="http://schemas.microsoft.com/office/powerpoint/2010/main" val="3733716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EC0F-9957-1485-26CA-79E9A1BC4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75A2328-E38A-549F-A6FB-4156369186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27BBFE-5A3A-9FA0-57B7-74C6F827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13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220FA0-86EE-4F2D-D44B-7A04F52EB697}"/>
              </a:ext>
            </a:extLst>
          </p:cNvPr>
          <p:cNvSpPr txBox="1"/>
          <p:nvPr/>
        </p:nvSpPr>
        <p:spPr>
          <a:xfrm>
            <a:off x="1439652" y="1196752"/>
            <a:ext cx="658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Concluzii</a:t>
            </a:r>
            <a:endParaRPr lang="en-US" sz="2800" dirty="0">
              <a:latin typeface="UT Sans Bo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548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F222E-43CF-3C40-1529-F98433D11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7E294AC-B953-46E7-0C11-9F158BE27933}"/>
              </a:ext>
            </a:extLst>
          </p:cNvPr>
          <p:cNvSpPr txBox="1"/>
          <p:nvPr/>
        </p:nvSpPr>
        <p:spPr>
          <a:xfrm>
            <a:off x="809582" y="2382559"/>
            <a:ext cx="784887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Blip>
                <a:blip r:embed="rId2"/>
              </a:buBlip>
            </a:pPr>
            <a:r>
              <a:rPr lang="en-US" sz="2000" dirty="0" err="1">
                <a:latin typeface="UT Sans" pitchFamily="50" charset="0"/>
              </a:rPr>
              <a:t>Aplicatia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poate</a:t>
            </a:r>
            <a:r>
              <a:rPr lang="en-US" sz="2000" dirty="0">
                <a:latin typeface="UT Sans" pitchFamily="50" charset="0"/>
              </a:rPr>
              <a:t> fi </a:t>
            </a:r>
            <a:r>
              <a:rPr lang="en-US" sz="2000" dirty="0" err="1">
                <a:latin typeface="UT Sans" pitchFamily="50" charset="0"/>
              </a:rPr>
              <a:t>imbunatatatita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prin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adaugarea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mai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multor</a:t>
            </a:r>
            <a:r>
              <a:rPr lang="en-US" sz="2000" dirty="0">
                <a:latin typeface="UT Sans" pitchFamily="50" charset="0"/>
              </a:rPr>
              <a:t> facilitate precum forma </a:t>
            </a:r>
            <a:r>
              <a:rPr lang="en-US" sz="2000" dirty="0" err="1">
                <a:latin typeface="UT Sans" pitchFamily="50" charset="0"/>
              </a:rPr>
              <a:t>geometrice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si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modele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deja</a:t>
            </a:r>
            <a:r>
              <a:rPr lang="en-US" sz="2000" dirty="0">
                <a:latin typeface="UT Sans" pitchFamily="50" charset="0"/>
              </a:rPr>
              <a:t> definite 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en-US" sz="2000" dirty="0" err="1">
                <a:latin typeface="UT Sans" pitchFamily="50" charset="0"/>
              </a:rPr>
              <a:t>Implementarea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unui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sistem</a:t>
            </a:r>
            <a:r>
              <a:rPr lang="en-US" sz="2000" dirty="0">
                <a:latin typeface="UT Sans" pitchFamily="50" charset="0"/>
              </a:rPr>
              <a:t> de </a:t>
            </a:r>
            <a:r>
              <a:rPr lang="en-US" sz="2000" dirty="0" err="1">
                <a:latin typeface="UT Sans" pitchFamily="50" charset="0"/>
              </a:rPr>
              <a:t>stocare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pentru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utilizatori</a:t>
            </a:r>
            <a:r>
              <a:rPr lang="en-US" sz="2000" dirty="0">
                <a:latin typeface="UT Sans" pitchFamily="50" charset="0"/>
              </a:rPr>
              <a:t> 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en-US" sz="2000" dirty="0" err="1">
                <a:latin typeface="UT Sans" pitchFamily="50" charset="0"/>
              </a:rPr>
              <a:t>Posibilitatea</a:t>
            </a:r>
            <a:r>
              <a:rPr lang="en-US" sz="2000" dirty="0">
                <a:latin typeface="UT Sans" pitchFamily="50" charset="0"/>
              </a:rPr>
              <a:t> de a </a:t>
            </a:r>
            <a:r>
              <a:rPr lang="en-US" sz="2000" dirty="0" err="1">
                <a:latin typeface="UT Sans" pitchFamily="50" charset="0"/>
              </a:rPr>
              <a:t>importa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imagini</a:t>
            </a:r>
            <a:r>
              <a:rPr lang="en-US" sz="2000" dirty="0">
                <a:latin typeface="UT Sans" pitchFamily="50" charset="0"/>
              </a:rPr>
              <a:t> de pe </a:t>
            </a:r>
            <a:r>
              <a:rPr lang="en-US" sz="2000" dirty="0" err="1">
                <a:latin typeface="UT Sans" pitchFamily="50" charset="0"/>
              </a:rPr>
              <a:t>calculatorul</a:t>
            </a:r>
            <a:r>
              <a:rPr lang="en-US" sz="2000" dirty="0">
                <a:latin typeface="UT Sans" pitchFamily="50" charset="0"/>
              </a:rPr>
              <a:t> personal </a:t>
            </a:r>
            <a:r>
              <a:rPr lang="en-US" sz="2000" dirty="0" err="1">
                <a:latin typeface="UT Sans" pitchFamily="50" charset="0"/>
              </a:rPr>
              <a:t>pentru</a:t>
            </a:r>
            <a:r>
              <a:rPr lang="en-US" sz="2000" dirty="0">
                <a:latin typeface="UT Sans" pitchFamily="50" charset="0"/>
              </a:rPr>
              <a:t> a </a:t>
            </a:r>
            <a:r>
              <a:rPr lang="en-US" sz="2000" dirty="0" err="1">
                <a:latin typeface="UT Sans" pitchFamily="50" charset="0"/>
              </a:rPr>
              <a:t>putea</a:t>
            </a:r>
            <a:r>
              <a:rPr lang="en-US" sz="2000" dirty="0">
                <a:latin typeface="UT Sans" pitchFamily="50" charset="0"/>
              </a:rPr>
              <a:t> fi </a:t>
            </a:r>
            <a:r>
              <a:rPr lang="en-US" sz="2000" dirty="0" err="1">
                <a:latin typeface="UT Sans" pitchFamily="50" charset="0"/>
              </a:rPr>
              <a:t>editate</a:t>
            </a:r>
            <a:r>
              <a:rPr lang="en-US" sz="2000" dirty="0">
                <a:latin typeface="UT Sans" pitchFamily="50" charset="0"/>
              </a:rPr>
              <a:t> ulterior</a:t>
            </a:r>
          </a:p>
          <a:p>
            <a:pPr marL="342900" indent="-342900" algn="just">
              <a:buBlip>
                <a:blip r:embed="rId2"/>
              </a:buBlip>
            </a:pPr>
            <a:r>
              <a:rPr lang="en-US" sz="2000" dirty="0" err="1">
                <a:latin typeface="UT Sans" pitchFamily="50" charset="0"/>
              </a:rPr>
              <a:t>Posibilitatea</a:t>
            </a:r>
            <a:r>
              <a:rPr lang="en-US" sz="2000" dirty="0">
                <a:latin typeface="UT Sans" pitchFamily="50" charset="0"/>
              </a:rPr>
              <a:t> de a </a:t>
            </a:r>
            <a:r>
              <a:rPr lang="en-US" sz="2000" dirty="0" err="1">
                <a:latin typeface="UT Sans" pitchFamily="50" charset="0"/>
              </a:rPr>
              <a:t>descarca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aplicatia</a:t>
            </a:r>
            <a:r>
              <a:rPr lang="en-US" sz="2000" dirty="0">
                <a:latin typeface="UT Sans" pitchFamily="50" charset="0"/>
              </a:rPr>
              <a:t> local pe </a:t>
            </a:r>
            <a:r>
              <a:rPr lang="en-US" sz="2000" dirty="0" err="1">
                <a:latin typeface="UT Sans" pitchFamily="50" charset="0"/>
              </a:rPr>
              <a:t>dispozitivele</a:t>
            </a:r>
            <a:r>
              <a:rPr lang="en-US" sz="2000" dirty="0">
                <a:latin typeface="UT Sans" pitchFamily="50" charset="0"/>
              </a:rPr>
              <a:t> </a:t>
            </a:r>
            <a:r>
              <a:rPr lang="en-US" sz="2000" dirty="0" err="1">
                <a:latin typeface="UT Sans" pitchFamily="50" charset="0"/>
              </a:rPr>
              <a:t>utilizatorului</a:t>
            </a:r>
            <a:endParaRPr lang="en-US" sz="2000" dirty="0">
              <a:latin typeface="UT Sans" pitchFamily="50" charset="0"/>
            </a:endParaRPr>
          </a:p>
          <a:p>
            <a:pPr lvl="1" algn="just"/>
            <a:endParaRPr lang="en-US" sz="2000" dirty="0">
              <a:latin typeface="UT Sans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F7863D0-DD7F-7C97-AB2C-638D955E0F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453067-3630-43A4-2DD4-91D9D961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14</a:t>
            </a:fld>
            <a:endParaRPr lang="en-US" sz="1200" b="1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A1CA4B-CF32-E730-A055-8E44C20B9875}"/>
              </a:ext>
            </a:extLst>
          </p:cNvPr>
          <p:cNvSpPr txBox="1"/>
          <p:nvPr/>
        </p:nvSpPr>
        <p:spPr>
          <a:xfrm>
            <a:off x="1439652" y="1196752"/>
            <a:ext cx="65887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Direcții de dezvoltare viitoare</a:t>
            </a:r>
            <a:endParaRPr lang="en-US" sz="2800" dirty="0">
              <a:latin typeface="UT Sans Bold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921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73C8A-DC22-9222-3670-B0D1D57DC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A5169E8-482F-00CE-9F91-F9810EEBCE1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F5551-B2AC-5D82-388E-65DEAE78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64008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15</a:t>
            </a:fld>
            <a:endParaRPr lang="en-US" sz="1200" b="1" dirty="0">
              <a:latin typeface="UT Sa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49F9C-FBAC-8F9B-A3E6-0F6FB6587FF5}"/>
              </a:ext>
            </a:extLst>
          </p:cNvPr>
          <p:cNvSpPr txBox="1"/>
          <p:nvPr/>
        </p:nvSpPr>
        <p:spPr>
          <a:xfrm>
            <a:off x="-576572" y="2906334"/>
            <a:ext cx="62286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800" dirty="0">
                <a:latin typeface="UT Sans Bold" panose="00000500000000000000" pitchFamily="2" charset="0"/>
              </a:rPr>
              <a:t>Demonstarție</a:t>
            </a:r>
          </a:p>
        </p:txBody>
      </p:sp>
    </p:spTree>
    <p:extLst>
      <p:ext uri="{BB962C8B-B14F-4D97-AF65-F5344CB8AC3E}">
        <p14:creationId xmlns:p14="http://schemas.microsoft.com/office/powerpoint/2010/main" val="2013581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BEA0-5EC4-58E0-1F05-75A05C714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55F507A-0ACC-28D6-716E-0C1DC479C651}"/>
              </a:ext>
            </a:extLst>
          </p:cNvPr>
          <p:cNvSpPr txBox="1"/>
          <p:nvPr/>
        </p:nvSpPr>
        <p:spPr>
          <a:xfrm>
            <a:off x="2087724" y="3136612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o-RO" sz="3200" dirty="0">
                <a:latin typeface="UT Sans Bold" panose="00000500000000000000" pitchFamily="2" charset="0"/>
              </a:rPr>
              <a:t>Vă </a:t>
            </a:r>
            <a:r>
              <a:rPr lang="ro-RO" sz="3200" dirty="0" err="1">
                <a:latin typeface="UT Sans Bold" panose="00000500000000000000" pitchFamily="2" charset="0"/>
              </a:rPr>
              <a:t>mulțum</a:t>
            </a:r>
            <a:r>
              <a:rPr lang="en-US" sz="3200" dirty="0" err="1">
                <a:latin typeface="UT Sans Bold" panose="00000500000000000000" pitchFamily="2" charset="0"/>
              </a:rPr>
              <a:t>im</a:t>
            </a:r>
            <a:r>
              <a:rPr lang="ro-RO" sz="3200" dirty="0">
                <a:latin typeface="UT Sans Bold" panose="00000500000000000000" pitchFamily="2" charset="0"/>
              </a:rPr>
              <a:t> pentru atenție!</a:t>
            </a:r>
            <a:endParaRPr lang="en-US" sz="3200" dirty="0">
              <a:latin typeface="UT Sans Bold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312734-58AA-DB3D-C058-0022C04C0F0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32" y="341670"/>
            <a:ext cx="2343405" cy="64008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A22CCA-7B16-0519-6609-531051A52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58966" y="6108172"/>
            <a:ext cx="731520" cy="548640"/>
          </a:xfrm>
        </p:spPr>
        <p:txBody>
          <a:bodyPr/>
          <a:lstStyle/>
          <a:p>
            <a:pPr algn="ctr"/>
            <a:fld id="{735A3DBB-FBA3-4A4C-B7D7-E60F12564F18}" type="slidenum">
              <a:rPr lang="en-US" sz="1200" b="1" smtClean="0">
                <a:latin typeface="UT Sans" panose="00000500000000000000" pitchFamily="2" charset="0"/>
              </a:rPr>
              <a:pPr algn="ctr"/>
              <a:t>16</a:t>
            </a:fld>
            <a:endParaRPr lang="en-US" sz="1200" b="1" dirty="0">
              <a:latin typeface="UT Sa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39626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490</TotalTime>
  <Words>232</Words>
  <Application>Microsoft Office PowerPoint</Application>
  <PresentationFormat>Expunere pe ecran (4:3)</PresentationFormat>
  <Paragraphs>71</Paragraphs>
  <Slides>16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24" baseType="lpstr">
      <vt:lpstr>Arial</vt:lpstr>
      <vt:lpstr>Calibri</vt:lpstr>
      <vt:lpstr>Tw Cen MT</vt:lpstr>
      <vt:lpstr>UT Sans</vt:lpstr>
      <vt:lpstr>UT Sans Bold</vt:lpstr>
      <vt:lpstr>UT Sans Light</vt:lpstr>
      <vt:lpstr>UT Sans Medium</vt:lpstr>
      <vt:lpstr>Droplet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DIAGRAMA CORECTA!</vt:lpstr>
      <vt:lpstr>Prezentare PowerPoint</vt:lpstr>
      <vt:lpstr>Alegere culoare noua din paleta de culori 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Nechifor Cristina Claudia</cp:lastModifiedBy>
  <cp:revision>29</cp:revision>
  <dcterms:created xsi:type="dcterms:W3CDTF">2017-10-19T09:49:50Z</dcterms:created>
  <dcterms:modified xsi:type="dcterms:W3CDTF">2026-05-02T14:08:39Z</dcterms:modified>
</cp:coreProperties>
</file>